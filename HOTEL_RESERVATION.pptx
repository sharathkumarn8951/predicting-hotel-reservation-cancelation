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6"/>
  </p:notesMasterIdLst>
  <p:sldIdLst>
    <p:sldId id="256" r:id="rId2"/>
    <p:sldId id="714" r:id="rId3"/>
    <p:sldId id="674" r:id="rId4"/>
    <p:sldId id="715" r:id="rId5"/>
    <p:sldId id="716" r:id="rId6"/>
    <p:sldId id="717" r:id="rId7"/>
    <p:sldId id="718" r:id="rId8"/>
    <p:sldId id="719" r:id="rId9"/>
    <p:sldId id="720" r:id="rId10"/>
    <p:sldId id="722" r:id="rId11"/>
    <p:sldId id="723" r:id="rId12"/>
    <p:sldId id="724" r:id="rId13"/>
    <p:sldId id="726" r:id="rId14"/>
    <p:sldId id="727" r:id="rId15"/>
    <p:sldId id="731" r:id="rId16"/>
    <p:sldId id="728" r:id="rId17"/>
    <p:sldId id="729" r:id="rId18"/>
    <p:sldId id="730" r:id="rId19"/>
    <p:sldId id="732" r:id="rId20"/>
    <p:sldId id="733" r:id="rId21"/>
    <p:sldId id="735" r:id="rId22"/>
    <p:sldId id="734" r:id="rId23"/>
    <p:sldId id="711" r:id="rId24"/>
    <p:sldId id="3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Predicting Hotel Reservation Cancellations</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4" name="Rectangle 1">
            <a:extLst>
              <a:ext uri="{FF2B5EF4-FFF2-40B4-BE49-F238E27FC236}">
                <a16:creationId xmlns:a16="http://schemas.microsoft.com/office/drawing/2014/main" id="{FB9E670D-01BB-BD00-18C5-3C086B3866F5}"/>
              </a:ext>
            </a:extLst>
          </p:cNvPr>
          <p:cNvSpPr>
            <a:spLocks noGrp="1" noChangeArrowheads="1"/>
          </p:cNvSpPr>
          <p:nvPr>
            <p:ph idx="1"/>
          </p:nvPr>
        </p:nvSpPr>
        <p:spPr bwMode="auto">
          <a:xfrm>
            <a:off x="678884" y="1983847"/>
            <a:ext cx="328808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Overview</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Building &amp; Evaluation</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Model Selection</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Deployment</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1066510" y="1655196"/>
            <a:ext cx="10834234" cy="439806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lvl="0" indent="0">
              <a:lnSpc>
                <a:spcPct val="150000"/>
              </a:lnSpc>
              <a:buNone/>
            </a:pPr>
            <a:r>
              <a:rPr lang="en-US" sz="2000" dirty="0">
                <a:latin typeface="Times New Roman" panose="02020603050405020304" pitchFamily="18" charset="0"/>
                <a:cs typeface="Times New Roman" panose="02020603050405020304" pitchFamily="18" charset="0"/>
              </a:rPr>
              <a:t>Hotel booking cancellations cause revenue loss and inefficient resource planning for hotels. This project aims to develop a </a:t>
            </a:r>
            <a:r>
              <a:rPr lang="en-US" sz="2000" b="1" dirty="0">
                <a:latin typeface="Times New Roman" panose="02020603050405020304" pitchFamily="18" charset="0"/>
                <a:cs typeface="Times New Roman" panose="02020603050405020304" pitchFamily="18" charset="0"/>
              </a:rPr>
              <a:t>machine learning model to predict whether a reservation will be canceled or not</a:t>
            </a:r>
            <a:r>
              <a:rPr lang="en-US" sz="2000" dirty="0">
                <a:latin typeface="Times New Roman" panose="02020603050405020304" pitchFamily="18" charset="0"/>
                <a:cs typeface="Times New Roman" panose="02020603050405020304" pitchFamily="18" charset="0"/>
              </a:rPr>
              <a:t> based on booking and customer information, helping hotels improve decision-making and optimize room management.</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B08EE-404B-A3CE-0B73-C19EB513317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Dataset Overview</a:t>
            </a:r>
            <a:endParaRPr lang="en-IN" dirty="0"/>
          </a:p>
        </p:txBody>
      </p:sp>
      <p:sp>
        <p:nvSpPr>
          <p:cNvPr id="3" name="Content Placeholder 2">
            <a:extLst>
              <a:ext uri="{FF2B5EF4-FFF2-40B4-BE49-F238E27FC236}">
                <a16:creationId xmlns:a16="http://schemas.microsoft.com/office/drawing/2014/main" id="{E6566C80-F3CA-EE7B-ABCE-66CF6F2C629E}"/>
              </a:ext>
            </a:extLst>
          </p:cNvPr>
          <p:cNvSpPr>
            <a:spLocks noGrp="1"/>
          </p:cNvSpPr>
          <p:nvPr>
            <p:ph idx="1"/>
          </p:nvPr>
        </p:nvSpPr>
        <p:spPr>
          <a:xfrm>
            <a:off x="1046632" y="1856268"/>
            <a:ext cx="10834234" cy="4398066"/>
          </a:xfrm>
        </p:spPr>
        <p:txBody>
          <a:bodyPr>
            <a:normAutofit/>
          </a:bodyPr>
          <a:lstStyle/>
          <a:p>
            <a:pPr marL="0" indent="0">
              <a:lnSpc>
                <a:spcPct val="200000"/>
              </a:lnSpc>
              <a:buNone/>
            </a:pPr>
            <a:r>
              <a:rPr lang="en-US" sz="1800" dirty="0">
                <a:latin typeface="Times New Roman" panose="02020603050405020304" pitchFamily="18" charset="0"/>
                <a:cs typeface="Times New Roman" panose="02020603050405020304" pitchFamily="18" charset="0"/>
              </a:rPr>
              <a:t>The dataset contains 36,275 hotel reservation records with 19 features, including booking details, customer information, and pricing data. The target variable booking_status indicates whether a reservation is Canceled or Not_Canceled, which is used to train machine learning models for cancellation prediction.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923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468FEDE-E52E-DD29-7C84-5B26E29FC972}"/>
              </a:ext>
            </a:extLst>
          </p:cNvPr>
          <p:cNvSpPr>
            <a:spLocks noGrp="1" noChangeArrowheads="1"/>
          </p:cNvSpPr>
          <p:nvPr>
            <p:ph type="title"/>
          </p:nvPr>
        </p:nvSpPr>
        <p:spPr bwMode="auto">
          <a:xfrm>
            <a:off x="678884" y="586888"/>
            <a:ext cx="47288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Dataset</a:t>
            </a:r>
          </a:p>
        </p:txBody>
      </p:sp>
      <p:sp>
        <p:nvSpPr>
          <p:cNvPr id="6" name="Rectangle 3">
            <a:extLst>
              <a:ext uri="{FF2B5EF4-FFF2-40B4-BE49-F238E27FC236}">
                <a16:creationId xmlns:a16="http://schemas.microsoft.com/office/drawing/2014/main" id="{DF368086-EFE1-3A01-431E-1D357A5A5384}"/>
              </a:ext>
            </a:extLst>
          </p:cNvPr>
          <p:cNvSpPr>
            <a:spLocks noGrp="1" noChangeArrowheads="1"/>
          </p:cNvSpPr>
          <p:nvPr>
            <p:ph idx="1"/>
          </p:nvPr>
        </p:nvSpPr>
        <p:spPr bwMode="auto">
          <a:xfrm>
            <a:off x="1318482" y="1674965"/>
            <a:ext cx="3449662"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 Time</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Average Price per Room</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Market Segment Type</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Special Requests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Repeated Guest</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Previous Cancellations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Guests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Room Type Reserved</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Booking Status (Target Variable)</a:t>
            </a:r>
          </a:p>
        </p:txBody>
      </p:sp>
    </p:spTree>
    <p:extLst>
      <p:ext uri="{BB962C8B-B14F-4D97-AF65-F5344CB8AC3E}">
        <p14:creationId xmlns:p14="http://schemas.microsoft.com/office/powerpoint/2010/main" val="3064344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06D05D-4E7A-38C3-68A7-25C1D4C0C41D}"/>
              </a:ext>
            </a:extLst>
          </p:cNvPr>
          <p:cNvSpPr>
            <a:spLocks noGrp="1"/>
          </p:cNvSpPr>
          <p:nvPr>
            <p:ph idx="1"/>
          </p:nvPr>
        </p:nvSpPr>
        <p:spPr>
          <a:xfrm>
            <a:off x="1175840" y="1685015"/>
            <a:ext cx="10834234" cy="4398066"/>
          </a:xfrm>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Before building the machine learning model, the dataset was checked for </a:t>
            </a:r>
            <a:r>
              <a:rPr lang="en-US" sz="1800" b="1" dirty="0">
                <a:latin typeface="Times New Roman" panose="02020603050405020304" pitchFamily="18" charset="0"/>
                <a:cs typeface="Times New Roman" panose="02020603050405020304" pitchFamily="18" charset="0"/>
              </a:rPr>
              <a:t>missing or null values</a:t>
            </a:r>
            <a:r>
              <a:rPr lang="en-US" sz="1800" dirty="0">
                <a:latin typeface="Times New Roman" panose="02020603050405020304" pitchFamily="18" charset="0"/>
                <a:cs typeface="Times New Roman" panose="02020603050405020304" pitchFamily="18" charset="0"/>
              </a:rPr>
              <a:t> to ensure data quality and reliability.</a:t>
            </a:r>
          </a:p>
          <a:p>
            <a:pPr marL="0" indent="0">
              <a:lnSpc>
                <a:spcPct val="150000"/>
              </a:lnSpc>
              <a:buNone/>
            </a:pPr>
            <a:r>
              <a:rPr lang="en-US" sz="1800" dirty="0">
                <a:latin typeface="Times New Roman" panose="02020603050405020304" pitchFamily="18" charset="0"/>
                <a:cs typeface="Times New Roman" panose="02020603050405020304" pitchFamily="18" charset="0"/>
              </a:rPr>
              <a:t>After analyzing the dataset, it was found that </a:t>
            </a:r>
            <a:r>
              <a:rPr lang="en-US" sz="1800" b="1" dirty="0">
                <a:latin typeface="Times New Roman" panose="02020603050405020304" pitchFamily="18" charset="0"/>
                <a:cs typeface="Times New Roman" panose="02020603050405020304" pitchFamily="18" charset="0"/>
              </a:rPr>
              <a:t>there are no missing or null values present in any of the columns</a:t>
            </a:r>
            <a:r>
              <a:rPr lang="en-US" sz="1800" dirty="0">
                <a:latin typeface="Times New Roman" panose="02020603050405020304" pitchFamily="18" charset="0"/>
                <a:cs typeface="Times New Roman" panose="02020603050405020304" pitchFamily="18" charset="0"/>
              </a:rPr>
              <a:t>. Since the dataset is already complete and clean, </a:t>
            </a:r>
            <a:r>
              <a:rPr lang="en-US" sz="1800" b="1" dirty="0">
                <a:latin typeface="Times New Roman" panose="02020603050405020304" pitchFamily="18" charset="0"/>
                <a:cs typeface="Times New Roman" panose="02020603050405020304" pitchFamily="18" charset="0"/>
              </a:rPr>
              <a:t>no null value treatment such as imputation or removal was required</a:t>
            </a:r>
            <a:r>
              <a:rPr lang="en-US" sz="1800" dirty="0">
                <a:latin typeface="Times New Roman" panose="02020603050405020304" pitchFamily="18" charset="0"/>
                <a:cs typeface="Times New Roman" panose="02020603050405020304" pitchFamily="18" charset="0"/>
              </a:rPr>
              <a:t>.</a:t>
            </a:r>
          </a:p>
          <a:p>
            <a:pPr marL="0" indent="0">
              <a:lnSpc>
                <a:spcPct val="150000"/>
              </a:lnSpc>
              <a:buNone/>
            </a:pPr>
            <a:r>
              <a:rPr lang="en-US" sz="1800" dirty="0">
                <a:latin typeface="Times New Roman" panose="02020603050405020304" pitchFamily="18" charset="0"/>
                <a:cs typeface="Times New Roman" panose="02020603050405020304" pitchFamily="18" charset="0"/>
              </a:rPr>
              <a:t>Therefore, the dataset was directly used for further preprocessing and analysis.</a:t>
            </a: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737023A-78AE-1BF7-DFBC-54AF50021102}"/>
              </a:ext>
            </a:extLst>
          </p:cNvPr>
          <p:cNvSpPr>
            <a:spLocks noGrp="1" noChangeArrowheads="1"/>
          </p:cNvSpPr>
          <p:nvPr>
            <p:ph type="title"/>
          </p:nvPr>
        </p:nvSpPr>
        <p:spPr bwMode="auto">
          <a:xfrm>
            <a:off x="678884" y="602277"/>
            <a:ext cx="481593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Missing Values</a:t>
            </a:r>
          </a:p>
        </p:txBody>
      </p:sp>
    </p:spTree>
    <p:extLst>
      <p:ext uri="{BB962C8B-B14F-4D97-AF65-F5344CB8AC3E}">
        <p14:creationId xmlns:p14="http://schemas.microsoft.com/office/powerpoint/2010/main" val="811078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6A2E6A-9679-E55A-E05C-1BB5B3FD056B}"/>
              </a:ext>
            </a:extLst>
          </p:cNvPr>
          <p:cNvSpPr>
            <a:spLocks noGrp="1"/>
          </p:cNvSpPr>
          <p:nvPr>
            <p:ph idx="1"/>
          </p:nvPr>
        </p:nvSpPr>
        <p:spPr>
          <a:xfrm>
            <a:off x="927363" y="1857657"/>
            <a:ext cx="10834234" cy="4398066"/>
          </a:xfrm>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Exploratory Data Analysis was performed to understand the </a:t>
            </a:r>
            <a:r>
              <a:rPr lang="en-US" sz="1800" b="1" dirty="0">
                <a:latin typeface="Times New Roman" panose="02020603050405020304" pitchFamily="18" charset="0"/>
                <a:cs typeface="Times New Roman" panose="02020603050405020304" pitchFamily="18" charset="0"/>
              </a:rPr>
              <a:t>structure of the dataset and the relationships between different features</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Various visualizations were used to analyze </a:t>
            </a:r>
            <a:r>
              <a:rPr lang="en-US" sz="1800" b="1" dirty="0">
                <a:latin typeface="Times New Roman" panose="02020603050405020304" pitchFamily="18" charset="0"/>
                <a:cs typeface="Times New Roman" panose="02020603050405020304" pitchFamily="18" charset="0"/>
              </a:rPr>
              <a:t>booking patterns, customer behavior, pricing trends, and cancellation patterns</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This step helps in identifying </a:t>
            </a:r>
            <a:r>
              <a:rPr lang="en-US" sz="1800" b="1" dirty="0">
                <a:latin typeface="Times New Roman" panose="02020603050405020304" pitchFamily="18" charset="0"/>
                <a:cs typeface="Times New Roman" panose="02020603050405020304" pitchFamily="18" charset="0"/>
              </a:rPr>
              <a:t>important features that influence booking cancellations</a:t>
            </a:r>
            <a:r>
              <a:rPr lang="en-US" sz="1800" dirty="0">
                <a:latin typeface="Times New Roman" panose="02020603050405020304" pitchFamily="18" charset="0"/>
                <a:cs typeface="Times New Roman" panose="02020603050405020304" pitchFamily="18" charset="0"/>
              </a:rPr>
              <a:t>.</a:t>
            </a:r>
          </a:p>
          <a:p>
            <a:pPr>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519CAA36-1E61-D1FA-9691-058FDA15BCE3}"/>
              </a:ext>
            </a:extLst>
          </p:cNvPr>
          <p:cNvSpPr>
            <a:spLocks noGrp="1" noChangeArrowheads="1"/>
          </p:cNvSpPr>
          <p:nvPr>
            <p:ph type="title"/>
          </p:nvPr>
        </p:nvSpPr>
        <p:spPr bwMode="auto">
          <a:xfrm>
            <a:off x="678884" y="602277"/>
            <a:ext cx="6447599"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(EDA)</a:t>
            </a:r>
          </a:p>
        </p:txBody>
      </p:sp>
    </p:spTree>
    <p:extLst>
      <p:ext uri="{BB962C8B-B14F-4D97-AF65-F5344CB8AC3E}">
        <p14:creationId xmlns:p14="http://schemas.microsoft.com/office/powerpoint/2010/main" val="3699057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45BC23-B65A-3F92-E407-A9EA12DFDEB4}"/>
              </a:ext>
            </a:extLst>
          </p:cNvPr>
          <p:cNvSpPr>
            <a:spLocks noGrp="1" noChangeArrowheads="1"/>
          </p:cNvSpPr>
          <p:nvPr>
            <p:ph type="title"/>
          </p:nvPr>
        </p:nvSpPr>
        <p:spPr bwMode="auto">
          <a:xfrm>
            <a:off x="490040" y="274286"/>
            <a:ext cx="5396029"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Booking Status Distribution</a:t>
            </a:r>
          </a:p>
        </p:txBody>
      </p:sp>
      <p:sp>
        <p:nvSpPr>
          <p:cNvPr id="8" name="TextBox 7">
            <a:extLst>
              <a:ext uri="{FF2B5EF4-FFF2-40B4-BE49-F238E27FC236}">
                <a16:creationId xmlns:a16="http://schemas.microsoft.com/office/drawing/2014/main" id="{DBFA4F04-E99E-5927-EF49-971BF8AEC85A}"/>
              </a:ext>
            </a:extLst>
          </p:cNvPr>
          <p:cNvSpPr txBox="1"/>
          <p:nvPr/>
        </p:nvSpPr>
        <p:spPr>
          <a:xfrm>
            <a:off x="969926" y="4841990"/>
            <a:ext cx="9832285" cy="923330"/>
          </a:xfrm>
          <a:prstGeom prst="rect">
            <a:avLst/>
          </a:prstGeom>
          <a:noFill/>
        </p:spPr>
        <p:txBody>
          <a:bodyPr wrap="square">
            <a:spAutoFit/>
          </a:bodyPr>
          <a:lstStyle/>
          <a:p>
            <a:r>
              <a:rPr lang="en-US" i="0" dirty="0">
                <a:effectLst/>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bar</a:t>
            </a:r>
            <a:r>
              <a:rPr lang="en-US" i="0" dirty="0">
                <a:effectLst/>
                <a:latin typeface="Times New Roman" panose="02020603050405020304" pitchFamily="18" charset="0"/>
                <a:cs typeface="Times New Roman" panose="02020603050405020304" pitchFamily="18" charset="0"/>
              </a:rPr>
              <a:t> chart shows the distribution of booking outcomes in the dataset. Approximately 67.2% of the bookings were not canceled, while 32.8% of the bookings were canceled, indicating that most reservations were successfully completed.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1B7D1C7-9306-DC3A-BC33-16478BDC77B3}"/>
              </a:ext>
            </a:extLst>
          </p:cNvPr>
          <p:cNvPicPr>
            <a:picLocks noChangeAspect="1"/>
          </p:cNvPicPr>
          <p:nvPr/>
        </p:nvPicPr>
        <p:blipFill>
          <a:blip r:embed="rId2"/>
          <a:stretch>
            <a:fillRect/>
          </a:stretch>
        </p:blipFill>
        <p:spPr>
          <a:xfrm>
            <a:off x="1825601" y="1030224"/>
            <a:ext cx="6563025" cy="3811765"/>
          </a:xfrm>
          <a:prstGeom prst="rect">
            <a:avLst/>
          </a:prstGeom>
        </p:spPr>
      </p:pic>
    </p:spTree>
    <p:extLst>
      <p:ext uri="{BB962C8B-B14F-4D97-AF65-F5344CB8AC3E}">
        <p14:creationId xmlns:p14="http://schemas.microsoft.com/office/powerpoint/2010/main" val="169305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24DD-FA10-C93D-13F4-29EB004C4A3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Market Segment Analysis</a:t>
            </a:r>
          </a:p>
        </p:txBody>
      </p:sp>
      <p:sp>
        <p:nvSpPr>
          <p:cNvPr id="7" name="TextBox 6">
            <a:extLst>
              <a:ext uri="{FF2B5EF4-FFF2-40B4-BE49-F238E27FC236}">
                <a16:creationId xmlns:a16="http://schemas.microsoft.com/office/drawing/2014/main" id="{FAC2374E-E50D-0EDC-02D7-4F021029EA6D}"/>
              </a:ext>
            </a:extLst>
          </p:cNvPr>
          <p:cNvSpPr txBox="1"/>
          <p:nvPr/>
        </p:nvSpPr>
        <p:spPr>
          <a:xfrm>
            <a:off x="387626" y="4971589"/>
            <a:ext cx="11380304" cy="1169551"/>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The analysis of market segment type in relation to booking status reveals noticeable differences in cancellation behavior across different customer segments. It can be observed that the Online segment has the highest number of bookings overall, and it also shows a relatively high number of cancellations compared to other segments. Similarly, the Offline segment contributes a significant number of bookings, but the proportion of cancellations is comparatively lower than the online segment. In contrast, segments such as Corporate, Aviation, and Complementary show much lower booking volumes, with cancellations being minimal in these categories</a:t>
            </a:r>
            <a:endParaRPr lang="en-IN"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A4F4991-82C0-3AE2-D09A-4F396CC57FDB}"/>
              </a:ext>
            </a:extLst>
          </p:cNvPr>
          <p:cNvPicPr>
            <a:picLocks noChangeAspect="1"/>
          </p:cNvPicPr>
          <p:nvPr/>
        </p:nvPicPr>
        <p:blipFill>
          <a:blip r:embed="rId2"/>
          <a:stretch>
            <a:fillRect/>
          </a:stretch>
        </p:blipFill>
        <p:spPr>
          <a:xfrm>
            <a:off x="2944150" y="1136866"/>
            <a:ext cx="4758676" cy="3914298"/>
          </a:xfrm>
          <a:prstGeom prst="rect">
            <a:avLst/>
          </a:prstGeom>
        </p:spPr>
      </p:pic>
    </p:spTree>
    <p:extLst>
      <p:ext uri="{BB962C8B-B14F-4D97-AF65-F5344CB8AC3E}">
        <p14:creationId xmlns:p14="http://schemas.microsoft.com/office/powerpoint/2010/main" val="2225640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0CF2C66-EFCF-4C38-5D70-ECEDF68FC7AF}"/>
              </a:ext>
            </a:extLst>
          </p:cNvPr>
          <p:cNvSpPr>
            <a:spLocks noGrp="1" noChangeArrowheads="1"/>
          </p:cNvSpPr>
          <p:nvPr>
            <p:ph type="title"/>
          </p:nvPr>
        </p:nvSpPr>
        <p:spPr bwMode="auto">
          <a:xfrm>
            <a:off x="678884" y="602277"/>
            <a:ext cx="3852593"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Lead Time Analysis</a:t>
            </a:r>
          </a:p>
        </p:txBody>
      </p:sp>
      <p:sp>
        <p:nvSpPr>
          <p:cNvPr id="8" name="TextBox 7">
            <a:extLst>
              <a:ext uri="{FF2B5EF4-FFF2-40B4-BE49-F238E27FC236}">
                <a16:creationId xmlns:a16="http://schemas.microsoft.com/office/drawing/2014/main" id="{B8982170-D5B9-6440-26C5-562C6B5BEE12}"/>
              </a:ext>
            </a:extLst>
          </p:cNvPr>
          <p:cNvSpPr txBox="1"/>
          <p:nvPr/>
        </p:nvSpPr>
        <p:spPr>
          <a:xfrm>
            <a:off x="678884" y="5108713"/>
            <a:ext cx="10674626" cy="923330"/>
          </a:xfrm>
          <a:prstGeom prst="rect">
            <a:avLst/>
          </a:prstGeom>
          <a:noFill/>
        </p:spPr>
        <p:txBody>
          <a:bodyPr wrap="square">
            <a:spAutoFit/>
          </a:bodyPr>
          <a:lstStyle/>
          <a:p>
            <a:r>
              <a:rPr lang="en-US" dirty="0"/>
              <a:t>The boxplot comparing </a:t>
            </a:r>
            <a:r>
              <a:rPr lang="en-US" dirty="0" err="1"/>
              <a:t>lead_time</a:t>
            </a:r>
            <a:r>
              <a:rPr lang="en-US" dirty="0"/>
              <a:t> with </a:t>
            </a:r>
            <a:r>
              <a:rPr lang="en-US" dirty="0" err="1"/>
              <a:t>booking_status</a:t>
            </a:r>
            <a:r>
              <a:rPr lang="en-US" dirty="0"/>
              <a:t> shows a clear difference in booking behavior between canceled and non-canceled reservations. It can be observed that bookings which were canceled generally have a higher lead time compared to those that were not canceled.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F85CC53-EFED-539F-535B-24C74F5232EB}"/>
              </a:ext>
            </a:extLst>
          </p:cNvPr>
          <p:cNvPicPr>
            <a:picLocks noChangeAspect="1"/>
          </p:cNvPicPr>
          <p:nvPr/>
        </p:nvPicPr>
        <p:blipFill>
          <a:blip r:embed="rId2"/>
          <a:stretch>
            <a:fillRect/>
          </a:stretch>
        </p:blipFill>
        <p:spPr>
          <a:xfrm>
            <a:off x="3125373" y="1179398"/>
            <a:ext cx="5085424" cy="3967748"/>
          </a:xfrm>
          <a:prstGeom prst="rect">
            <a:avLst/>
          </a:prstGeom>
        </p:spPr>
      </p:pic>
    </p:spTree>
    <p:extLst>
      <p:ext uri="{BB962C8B-B14F-4D97-AF65-F5344CB8AC3E}">
        <p14:creationId xmlns:p14="http://schemas.microsoft.com/office/powerpoint/2010/main" val="3322462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240A2-E9B9-0A68-2D9A-3AA42C2E7DE3}"/>
              </a:ext>
            </a:extLst>
          </p:cNvPr>
          <p:cNvSpPr>
            <a:spLocks noGrp="1"/>
          </p:cNvSpPr>
          <p:nvPr>
            <p:ph type="title"/>
          </p:nvPr>
        </p:nvSpPr>
        <p:spPr/>
        <p:txBody>
          <a:bodyPr/>
          <a:lstStyle/>
          <a:p>
            <a:r>
              <a:rPr lang="en-IN" dirty="0"/>
              <a:t>Price vs Booking Status</a:t>
            </a:r>
          </a:p>
        </p:txBody>
      </p:sp>
      <p:sp>
        <p:nvSpPr>
          <p:cNvPr id="7" name="TextBox 6">
            <a:extLst>
              <a:ext uri="{FF2B5EF4-FFF2-40B4-BE49-F238E27FC236}">
                <a16:creationId xmlns:a16="http://schemas.microsoft.com/office/drawing/2014/main" id="{27B18406-85FB-7C78-1492-673208242F18}"/>
              </a:ext>
            </a:extLst>
          </p:cNvPr>
          <p:cNvSpPr txBox="1"/>
          <p:nvPr/>
        </p:nvSpPr>
        <p:spPr>
          <a:xfrm>
            <a:off x="775253" y="5286813"/>
            <a:ext cx="11214944" cy="1477328"/>
          </a:xfrm>
          <a:prstGeom prst="rect">
            <a:avLst/>
          </a:prstGeom>
          <a:noFill/>
        </p:spPr>
        <p:txBody>
          <a:bodyPr wrap="square">
            <a:spAutoFit/>
          </a:bodyPr>
          <a:lstStyle/>
          <a:p>
            <a:pPr algn="l">
              <a:buNone/>
            </a:pPr>
            <a:r>
              <a:rPr lang="en-US" dirty="0">
                <a:effectLst/>
                <a:latin typeface="Times New Roman" panose="02020603050405020304" pitchFamily="18" charset="0"/>
                <a:cs typeface="Times New Roman" panose="02020603050405020304" pitchFamily="18" charset="0"/>
              </a:rPr>
              <a:t>This box plot compares the distribution of average room prices for canceled and not canceled bookings. It shows the median price, spread of prices, and possible outliers, helping to understand whether room price has any influence on booking cancellations.</a:t>
            </a:r>
          </a:p>
          <a:p>
            <a:pPr>
              <a:buNone/>
            </a:pPr>
            <a:br>
              <a:rPr lang="en-US" i="0"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9D2C17A-A4D4-90F6-B4D8-8D88AC89723D}"/>
              </a:ext>
            </a:extLst>
          </p:cNvPr>
          <p:cNvPicPr>
            <a:picLocks noChangeAspect="1"/>
          </p:cNvPicPr>
          <p:nvPr/>
        </p:nvPicPr>
        <p:blipFill>
          <a:blip r:embed="rId2"/>
          <a:stretch>
            <a:fillRect/>
          </a:stretch>
        </p:blipFill>
        <p:spPr>
          <a:xfrm>
            <a:off x="2729459" y="1143665"/>
            <a:ext cx="5226141" cy="3955109"/>
          </a:xfrm>
          <a:prstGeom prst="rect">
            <a:avLst/>
          </a:prstGeom>
        </p:spPr>
      </p:pic>
    </p:spTree>
    <p:extLst>
      <p:ext uri="{BB962C8B-B14F-4D97-AF65-F5344CB8AC3E}">
        <p14:creationId xmlns:p14="http://schemas.microsoft.com/office/powerpoint/2010/main" val="3194687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36FA6-58EB-6DD2-A5A3-F353ED2DFFE4}"/>
              </a:ext>
            </a:extLst>
          </p:cNvPr>
          <p:cNvSpPr>
            <a:spLocks noGrp="1"/>
          </p:cNvSpPr>
          <p:nvPr>
            <p:ph type="title"/>
          </p:nvPr>
        </p:nvSpPr>
        <p:spPr>
          <a:xfrm>
            <a:off x="579493" y="478471"/>
            <a:ext cx="10834234" cy="612775"/>
          </a:xfrm>
        </p:spPr>
        <p:txBody>
          <a:bodyPr>
            <a:normAutofit/>
          </a:bodyPr>
          <a:lstStyle/>
          <a:p>
            <a:r>
              <a:rPr lang="en-IN" dirty="0">
                <a:latin typeface="Times New Roman" panose="02020603050405020304" pitchFamily="18" charset="0"/>
                <a:cs typeface="Times New Roman" panose="02020603050405020304" pitchFamily="18" charset="0"/>
              </a:rPr>
              <a:t>Heatmap</a:t>
            </a:r>
          </a:p>
        </p:txBody>
      </p:sp>
      <p:sp>
        <p:nvSpPr>
          <p:cNvPr id="11" name="TextBox 10">
            <a:extLst>
              <a:ext uri="{FF2B5EF4-FFF2-40B4-BE49-F238E27FC236}">
                <a16:creationId xmlns:a16="http://schemas.microsoft.com/office/drawing/2014/main" id="{CE5F8944-4495-9D36-CD6B-084EBC2147E0}"/>
              </a:ext>
            </a:extLst>
          </p:cNvPr>
          <p:cNvSpPr txBox="1"/>
          <p:nvPr/>
        </p:nvSpPr>
        <p:spPr>
          <a:xfrm>
            <a:off x="0" y="5100930"/>
            <a:ext cx="12303889" cy="1215343"/>
          </a:xfrm>
          <a:prstGeom prst="rect">
            <a:avLst/>
          </a:prstGeom>
          <a:noFill/>
        </p:spPr>
        <p:txBody>
          <a:bodyPr wrap="square">
            <a:spAutoFit/>
          </a:bodyPr>
          <a:lstStyle/>
          <a:p>
            <a:r>
              <a:rPr lang="en-US" i="0" dirty="0">
                <a:effectLst/>
                <a:latin typeface="Times New Roman" panose="02020603050405020304" pitchFamily="18" charset="0"/>
                <a:cs typeface="Times New Roman" panose="02020603050405020304" pitchFamily="18" charset="0"/>
              </a:rPr>
              <a:t>This heatmap visualizes the correlation between all numerical features in the dataset. The color intensity represents the strength and direction of the relationship, where values closer to +1 indicate strong positive correlation, values near -1 indicate strong negative correlation, and values around 0 indicate little or no relationship. This helps identify important relationships between features and detect potential multicollinearity before building the machine learning model.</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1FB03F0-C6B7-D905-6B7A-8FFFF7A2D778}"/>
              </a:ext>
            </a:extLst>
          </p:cNvPr>
          <p:cNvPicPr>
            <a:picLocks noChangeAspect="1"/>
          </p:cNvPicPr>
          <p:nvPr/>
        </p:nvPicPr>
        <p:blipFill>
          <a:blip r:embed="rId2"/>
          <a:stretch>
            <a:fillRect/>
          </a:stretch>
        </p:blipFill>
        <p:spPr>
          <a:xfrm>
            <a:off x="2851872" y="926457"/>
            <a:ext cx="5278337" cy="4174473"/>
          </a:xfrm>
          <a:prstGeom prst="rect">
            <a:avLst/>
          </a:prstGeom>
        </p:spPr>
      </p:pic>
    </p:spTree>
    <p:extLst>
      <p:ext uri="{BB962C8B-B14F-4D97-AF65-F5344CB8AC3E}">
        <p14:creationId xmlns:p14="http://schemas.microsoft.com/office/powerpoint/2010/main" val="4055959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455BA-2079-619E-A78B-74894EA4202B}"/>
              </a:ext>
            </a:extLst>
          </p:cNvPr>
          <p:cNvSpPr>
            <a:spLocks noGrp="1"/>
          </p:cNvSpPr>
          <p:nvPr>
            <p:ph type="title"/>
          </p:nvPr>
        </p:nvSpPr>
        <p:spPr>
          <a:xfrm>
            <a:off x="539736" y="245857"/>
            <a:ext cx="10834234" cy="612775"/>
          </a:xfrm>
        </p:spPr>
        <p:txBody>
          <a:bodyPr/>
          <a:lstStyle/>
          <a:p>
            <a:r>
              <a:rPr lang="en-IN" dirty="0">
                <a:latin typeface="Times New Roman" panose="02020603050405020304" pitchFamily="18" charset="0"/>
                <a:cs typeface="Times New Roman" panose="02020603050405020304" pitchFamily="18" charset="0"/>
              </a:rPr>
              <a:t>Special Requests Analysis</a:t>
            </a:r>
          </a:p>
        </p:txBody>
      </p:sp>
      <p:sp>
        <p:nvSpPr>
          <p:cNvPr id="7" name="TextBox 6">
            <a:extLst>
              <a:ext uri="{FF2B5EF4-FFF2-40B4-BE49-F238E27FC236}">
                <a16:creationId xmlns:a16="http://schemas.microsoft.com/office/drawing/2014/main" id="{2D48712D-2F9C-5A62-37CF-FCE4CFA7C750}"/>
              </a:ext>
            </a:extLst>
          </p:cNvPr>
          <p:cNvSpPr txBox="1"/>
          <p:nvPr/>
        </p:nvSpPr>
        <p:spPr>
          <a:xfrm>
            <a:off x="99392" y="5098774"/>
            <a:ext cx="11986591" cy="1077218"/>
          </a:xfrm>
          <a:prstGeom prst="rect">
            <a:avLst/>
          </a:prstGeom>
          <a:noFill/>
        </p:spPr>
        <p:txBody>
          <a:bodyPr wrap="square">
            <a:spAutoFit/>
          </a:bodyPr>
          <a:lstStyle/>
          <a:p>
            <a:r>
              <a:rPr lang="en-US" sz="1600" dirty="0"/>
              <a:t>The relationship between the number of special requests and booking cancellation shows an interesting pattern in customer behavior. It can be observed that customers who make more special requests tend to have a slightly lower likelihood of canceling their bookings. The majority of both canceled and non-canceled bookings have a low number of special requests, typically between zero and one. However, higher values of special requests are more commonly associated with bookings that are not canceled. </a:t>
            </a:r>
            <a:endParaRPr lang="en-IN"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476F906-AF49-01A8-9AE5-9A48D30668D2}"/>
              </a:ext>
            </a:extLst>
          </p:cNvPr>
          <p:cNvPicPr>
            <a:picLocks noChangeAspect="1"/>
          </p:cNvPicPr>
          <p:nvPr/>
        </p:nvPicPr>
        <p:blipFill>
          <a:blip r:embed="rId2"/>
          <a:stretch>
            <a:fillRect/>
          </a:stretch>
        </p:blipFill>
        <p:spPr>
          <a:xfrm>
            <a:off x="2768200" y="858632"/>
            <a:ext cx="5319492" cy="4198411"/>
          </a:xfrm>
          <a:prstGeom prst="rect">
            <a:avLst/>
          </a:prstGeom>
        </p:spPr>
      </p:pic>
    </p:spTree>
    <p:extLst>
      <p:ext uri="{BB962C8B-B14F-4D97-AF65-F5344CB8AC3E}">
        <p14:creationId xmlns:p14="http://schemas.microsoft.com/office/powerpoint/2010/main" val="334281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26E71-6F84-EB8D-AFA3-A826E8E330A1}"/>
              </a:ext>
            </a:extLst>
          </p:cNvPr>
          <p:cNvSpPr>
            <a:spLocks noGrp="1"/>
          </p:cNvSpPr>
          <p:nvPr>
            <p:ph type="title"/>
          </p:nvPr>
        </p:nvSpPr>
        <p:spPr>
          <a:xfrm>
            <a:off x="678883" y="265736"/>
            <a:ext cx="10834234" cy="612775"/>
          </a:xfrm>
        </p:spPr>
        <p:txBody>
          <a:bodyPr/>
          <a:lstStyle/>
          <a:p>
            <a:r>
              <a:rPr lang="en-IN" dirty="0">
                <a:latin typeface="Times New Roman" panose="02020603050405020304" pitchFamily="18" charset="0"/>
                <a:cs typeface="Times New Roman" panose="02020603050405020304" pitchFamily="18" charset="0"/>
              </a:rPr>
              <a:t>Data Preprocessing &amp; Feature Engineering</a:t>
            </a:r>
          </a:p>
        </p:txBody>
      </p:sp>
      <p:sp>
        <p:nvSpPr>
          <p:cNvPr id="3" name="Content Placeholder 2">
            <a:extLst>
              <a:ext uri="{FF2B5EF4-FFF2-40B4-BE49-F238E27FC236}">
                <a16:creationId xmlns:a16="http://schemas.microsoft.com/office/drawing/2014/main" id="{0426318E-91F0-529E-FDE2-38691DF405B8}"/>
              </a:ext>
            </a:extLst>
          </p:cNvPr>
          <p:cNvSpPr>
            <a:spLocks noGrp="1"/>
          </p:cNvSpPr>
          <p:nvPr>
            <p:ph idx="1"/>
          </p:nvPr>
        </p:nvSpPr>
        <p:spPr>
          <a:xfrm>
            <a:off x="678884" y="1675075"/>
            <a:ext cx="10834234" cy="1753925"/>
          </a:xfrm>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Categorical variables such as </a:t>
            </a:r>
            <a:r>
              <a:rPr lang="en-US" sz="1800" dirty="0" err="1">
                <a:latin typeface="Times New Roman" panose="02020603050405020304" pitchFamily="18" charset="0"/>
                <a:cs typeface="Times New Roman" panose="02020603050405020304" pitchFamily="18" charset="0"/>
              </a:rPr>
              <a:t>type_of_meal_plan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room_type_reserved</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market_segment_type</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arrival_month</a:t>
            </a:r>
            <a:r>
              <a:rPr lang="en-US" sz="1800" dirty="0">
                <a:latin typeface="Times New Roman" panose="02020603050405020304" pitchFamily="18" charset="0"/>
                <a:cs typeface="Times New Roman" panose="02020603050405020304" pitchFamily="18" charset="0"/>
              </a:rPr>
              <a:t> were converted into numerical format using One-Hot Encoding. The </a:t>
            </a:r>
            <a:r>
              <a:rPr lang="en-US" sz="1800" dirty="0" err="1">
                <a:latin typeface="Times New Roman" panose="02020603050405020304" pitchFamily="18" charset="0"/>
                <a:cs typeface="Times New Roman" panose="02020603050405020304" pitchFamily="18" charset="0"/>
              </a:rPr>
              <a:t>Booking_ID</a:t>
            </a:r>
            <a:r>
              <a:rPr lang="en-US" sz="1800" dirty="0">
                <a:latin typeface="Times New Roman" panose="02020603050405020304" pitchFamily="18" charset="0"/>
                <a:cs typeface="Times New Roman" panose="02020603050405020304" pitchFamily="18" charset="0"/>
              </a:rPr>
              <a:t> column was removed as it is only an identifier, and the target variable booking_status was converted into binary values (0 = Not_Canceled, 1 = Canceled) for machine learning modeling.</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B6D8EB0-A610-8C43-310D-1BBAE8956417}"/>
              </a:ext>
            </a:extLst>
          </p:cNvPr>
          <p:cNvSpPr txBox="1"/>
          <p:nvPr/>
        </p:nvSpPr>
        <p:spPr>
          <a:xfrm>
            <a:off x="678884" y="3588026"/>
            <a:ext cx="7424531"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Feature Engineering – Creating New Features</a:t>
            </a:r>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236F0CF-E126-9500-AB0A-29C37C2ED417}"/>
              </a:ext>
            </a:extLst>
          </p:cNvPr>
          <p:cNvSpPr txBox="1"/>
          <p:nvPr/>
        </p:nvSpPr>
        <p:spPr>
          <a:xfrm>
            <a:off x="678882" y="1192696"/>
            <a:ext cx="3826565"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 Preprocessing</a:t>
            </a:r>
            <a:endParaRPr lang="en-IN" sz="2800" b="1" dirty="0"/>
          </a:p>
        </p:txBody>
      </p:sp>
      <p:sp>
        <p:nvSpPr>
          <p:cNvPr id="7" name="TextBox 6">
            <a:extLst>
              <a:ext uri="{FF2B5EF4-FFF2-40B4-BE49-F238E27FC236}">
                <a16:creationId xmlns:a16="http://schemas.microsoft.com/office/drawing/2014/main" id="{8065E35B-97B6-163D-69E6-9E22FA8C9449}"/>
              </a:ext>
            </a:extLst>
          </p:cNvPr>
          <p:cNvSpPr txBox="1"/>
          <p:nvPr/>
        </p:nvSpPr>
        <p:spPr>
          <a:xfrm>
            <a:off x="775252" y="4305762"/>
            <a:ext cx="10217426" cy="1704569"/>
          </a:xfrm>
          <a:prstGeom prst="rect">
            <a:avLst/>
          </a:prstGeom>
          <a:noFill/>
        </p:spPr>
        <p:txBody>
          <a:bodyPr wrap="square">
            <a:spAutoFit/>
          </a:bodyPr>
          <a:lstStyle/>
          <a:p>
            <a:pPr>
              <a:lnSpc>
                <a:spcPct val="150000"/>
              </a:lnSpc>
            </a:pPr>
            <a:r>
              <a:rPr lang="en-US" i="0" dirty="0">
                <a:effectLst/>
                <a:latin typeface="Times New Roman" panose="02020603050405020304" pitchFamily="18" charset="0"/>
                <a:cs typeface="Times New Roman" panose="02020603050405020304" pitchFamily="18" charset="0"/>
              </a:rPr>
              <a:t>Additional features such as </a:t>
            </a:r>
            <a:r>
              <a:rPr lang="en-US" i="0" dirty="0" err="1">
                <a:effectLst/>
                <a:latin typeface="Times New Roman" panose="02020603050405020304" pitchFamily="18" charset="0"/>
                <a:cs typeface="Times New Roman" panose="02020603050405020304" pitchFamily="18" charset="0"/>
              </a:rPr>
              <a:t>total_nights</a:t>
            </a:r>
            <a:r>
              <a:rPr lang="en-US" i="0" dirty="0">
                <a:effectLst/>
                <a:latin typeface="Times New Roman" panose="02020603050405020304" pitchFamily="18" charset="0"/>
                <a:cs typeface="Times New Roman" panose="02020603050405020304" pitchFamily="18" charset="0"/>
              </a:rPr>
              <a:t>, </a:t>
            </a:r>
            <a:r>
              <a:rPr lang="en-US" i="0" dirty="0" err="1">
                <a:effectLst/>
                <a:latin typeface="Times New Roman" panose="02020603050405020304" pitchFamily="18" charset="0"/>
                <a:cs typeface="Times New Roman" panose="02020603050405020304" pitchFamily="18" charset="0"/>
              </a:rPr>
              <a:t>total_guests</a:t>
            </a:r>
            <a:r>
              <a:rPr lang="en-US" i="0" dirty="0">
                <a:effectLst/>
                <a:latin typeface="Times New Roman" panose="02020603050405020304" pitchFamily="18" charset="0"/>
                <a:cs typeface="Times New Roman" panose="02020603050405020304" pitchFamily="18" charset="0"/>
              </a:rPr>
              <a:t>, </a:t>
            </a:r>
            <a:r>
              <a:rPr lang="en-US" i="0" dirty="0" err="1">
                <a:effectLst/>
                <a:latin typeface="Times New Roman" panose="02020603050405020304" pitchFamily="18" charset="0"/>
                <a:cs typeface="Times New Roman" panose="02020603050405020304" pitchFamily="18" charset="0"/>
              </a:rPr>
              <a:t>price_per_person</a:t>
            </a:r>
            <a:r>
              <a:rPr lang="en-US" i="0" dirty="0">
                <a:effectLst/>
                <a:latin typeface="Times New Roman" panose="02020603050405020304" pitchFamily="18" charset="0"/>
                <a:cs typeface="Times New Roman" panose="02020603050405020304" pitchFamily="18" charset="0"/>
              </a:rPr>
              <a:t>, </a:t>
            </a:r>
            <a:r>
              <a:rPr lang="en-US" i="0" dirty="0" err="1">
                <a:effectLst/>
                <a:latin typeface="Times New Roman" panose="02020603050405020304" pitchFamily="18" charset="0"/>
                <a:cs typeface="Times New Roman" panose="02020603050405020304" pitchFamily="18" charset="0"/>
              </a:rPr>
              <a:t>total_previous_bookings</a:t>
            </a:r>
            <a:r>
              <a:rPr lang="en-US" i="0" dirty="0">
                <a:effectLst/>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is_family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lead_time_category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price_per_neight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has_prev_cancellations</a:t>
            </a:r>
            <a:r>
              <a:rPr lang="en-US" i="0" dirty="0">
                <a:effectLst/>
                <a:latin typeface="Times New Roman" panose="02020603050405020304" pitchFamily="18" charset="0"/>
                <a:cs typeface="Times New Roman" panose="02020603050405020304" pitchFamily="18" charset="0"/>
              </a:rPr>
              <a:t> were created to better represent booking characteristics and customer behavior. These engineered features help improve the predictive performance of machine learning models.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8668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EEC48-6FBB-3A8B-6A2F-90B6697D0974}"/>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Feature Selection</a:t>
            </a:r>
            <a:br>
              <a:rPr lang="en-IN" b="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AC96A5F-305E-D5BA-2AEF-B279120177F8}"/>
              </a:ext>
            </a:extLst>
          </p:cNvPr>
          <p:cNvSpPr txBox="1"/>
          <p:nvPr/>
        </p:nvSpPr>
        <p:spPr>
          <a:xfrm>
            <a:off x="480097" y="5309015"/>
            <a:ext cx="11526371" cy="923330"/>
          </a:xfrm>
          <a:prstGeom prst="rect">
            <a:avLst/>
          </a:prstGeom>
          <a:noFill/>
        </p:spPr>
        <p:txBody>
          <a:bodyPr wrap="square">
            <a:spAutoFit/>
          </a:bodyPr>
          <a:lstStyle/>
          <a:p>
            <a:r>
              <a:rPr lang="en-US" i="0" dirty="0">
                <a:effectLst/>
                <a:latin typeface="Times New Roman" panose="02020603050405020304" pitchFamily="18" charset="0"/>
                <a:cs typeface="Times New Roman" panose="02020603050405020304" pitchFamily="18" charset="0"/>
              </a:rPr>
              <a:t>Feature selection was performed to identify the most important variables that influence booking cancellations. A Random Forest model was used to calculate feature importance scores, and the top features with the highest importance values were selected to improve model performance and reduce unnecessary complexity.</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93C4091-F07D-953B-121C-8B240C9372A0}"/>
              </a:ext>
            </a:extLst>
          </p:cNvPr>
          <p:cNvPicPr>
            <a:picLocks noChangeAspect="1"/>
          </p:cNvPicPr>
          <p:nvPr/>
        </p:nvPicPr>
        <p:blipFill>
          <a:blip r:embed="rId2"/>
          <a:stretch>
            <a:fillRect/>
          </a:stretch>
        </p:blipFill>
        <p:spPr>
          <a:xfrm>
            <a:off x="1494783" y="915478"/>
            <a:ext cx="7418026" cy="4292626"/>
          </a:xfrm>
          <a:prstGeom prst="rect">
            <a:avLst/>
          </a:prstGeom>
        </p:spPr>
      </p:pic>
    </p:spTree>
    <p:extLst>
      <p:ext uri="{BB962C8B-B14F-4D97-AF65-F5344CB8AC3E}">
        <p14:creationId xmlns:p14="http://schemas.microsoft.com/office/powerpoint/2010/main" val="402441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0AB83-5B47-FA2F-F747-D53B01E05E3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Model Building</a:t>
            </a:r>
          </a:p>
        </p:txBody>
      </p:sp>
      <p:sp>
        <p:nvSpPr>
          <p:cNvPr id="3" name="Content Placeholder 2">
            <a:extLst>
              <a:ext uri="{FF2B5EF4-FFF2-40B4-BE49-F238E27FC236}">
                <a16:creationId xmlns:a16="http://schemas.microsoft.com/office/drawing/2014/main" id="{299FD043-0003-1EAF-6444-EDE555AD23DA}"/>
              </a:ext>
            </a:extLst>
          </p:cNvPr>
          <p:cNvSpPr>
            <a:spLocks noGrp="1"/>
          </p:cNvSpPr>
          <p:nvPr>
            <p:ph idx="1"/>
          </p:nvPr>
        </p:nvSpPr>
        <p:spPr>
          <a:xfrm>
            <a:off x="678884" y="1675075"/>
            <a:ext cx="10834234" cy="4398066"/>
          </a:xfrm>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 Multiple machine learning algorithms were used to build predictive models for booking cancellation prediction.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following models were trained and tested:</a:t>
            </a:r>
          </a:p>
          <a:p>
            <a:pPr marL="342900" indent="-3429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Logistic Regression</a:t>
            </a:r>
          </a:p>
          <a:p>
            <a:pPr marL="342900" indent="-3429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SVC (“SVM”)</a:t>
            </a:r>
          </a:p>
          <a:p>
            <a:pPr marL="342900" indent="-3429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Decision Tree</a:t>
            </a:r>
          </a:p>
          <a:p>
            <a:pPr marL="342900" indent="-3429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Random Forest</a:t>
            </a:r>
          </a:p>
          <a:p>
            <a:pPr marL="342900" indent="-3429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Gradient Boosting</a:t>
            </a:r>
          </a:p>
          <a:p>
            <a:pPr marL="342900" indent="-3429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K-Nearest Neighbors (KNN)</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5835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EB86-B6A2-9875-822A-233E4F81C6C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Model Evaluation</a:t>
            </a:r>
          </a:p>
        </p:txBody>
      </p:sp>
      <p:sp>
        <p:nvSpPr>
          <p:cNvPr id="3" name="Content Placeholder 2">
            <a:extLst>
              <a:ext uri="{FF2B5EF4-FFF2-40B4-BE49-F238E27FC236}">
                <a16:creationId xmlns:a16="http://schemas.microsoft.com/office/drawing/2014/main" id="{112D64C9-8DF2-A413-41A6-48EE4A450DD9}"/>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Model Evaluation Metrics</a:t>
            </a:r>
          </a:p>
          <a:p>
            <a:pPr marL="0" indent="0">
              <a:lnSpc>
                <a:spcPct val="150000"/>
              </a:lnSpc>
              <a:buNone/>
            </a:pPr>
            <a:r>
              <a:rPr lang="en-US" sz="1800" dirty="0">
                <a:latin typeface="Times New Roman" panose="02020603050405020304" pitchFamily="18" charset="0"/>
                <a:cs typeface="Times New Roman" panose="02020603050405020304" pitchFamily="18" charset="0"/>
              </a:rPr>
              <a:t>    The performance of each model was evaluated using several metrics:</a:t>
            </a:r>
          </a:p>
          <a:p>
            <a:pPr marL="342900" indent="-342900">
              <a:lnSpc>
                <a:spcPct val="150000"/>
              </a:lnSpc>
              <a:buFont typeface="+mj-lt"/>
              <a:buAutoNum type="arabicPeriod"/>
            </a:pPr>
            <a:r>
              <a:rPr lang="en-US" sz="1800" b="1" dirty="0">
                <a:latin typeface="Times New Roman" panose="02020603050405020304" pitchFamily="18" charset="0"/>
                <a:cs typeface="Times New Roman" panose="02020603050405020304" pitchFamily="18" charset="0"/>
              </a:rPr>
              <a:t>Accuracy Score</a:t>
            </a:r>
            <a:r>
              <a:rPr lang="en-US" sz="1800" dirty="0">
                <a:latin typeface="Times New Roman" panose="02020603050405020304" pitchFamily="18" charset="0"/>
                <a:cs typeface="Times New Roman" panose="02020603050405020304" pitchFamily="18" charset="0"/>
              </a:rPr>
              <a:t> – Measures the overall prediction correctness</a:t>
            </a:r>
          </a:p>
          <a:p>
            <a:pPr marL="342900" indent="-342900">
              <a:lnSpc>
                <a:spcPct val="150000"/>
              </a:lnSpc>
              <a:buFont typeface="+mj-lt"/>
              <a:buAutoNum type="arabicPeriod"/>
            </a:pPr>
            <a:r>
              <a:rPr lang="en-US" sz="1800" b="1" dirty="0">
                <a:latin typeface="Times New Roman" panose="02020603050405020304" pitchFamily="18" charset="0"/>
                <a:cs typeface="Times New Roman" panose="02020603050405020304" pitchFamily="18" charset="0"/>
              </a:rPr>
              <a:t>Confusion Matrix</a:t>
            </a:r>
            <a:r>
              <a:rPr lang="en-US" sz="1800" dirty="0">
                <a:latin typeface="Times New Roman" panose="02020603050405020304" pitchFamily="18" charset="0"/>
                <a:cs typeface="Times New Roman" panose="02020603050405020304" pitchFamily="18" charset="0"/>
              </a:rPr>
              <a:t> – Shows correct and incorrect predictions</a:t>
            </a:r>
          </a:p>
          <a:p>
            <a:pPr marL="342900" indent="-342900">
              <a:lnSpc>
                <a:spcPct val="150000"/>
              </a:lnSpc>
              <a:buFont typeface="+mj-lt"/>
              <a:buAutoNum type="arabicPeriod"/>
            </a:pPr>
            <a:r>
              <a:rPr lang="en-US" sz="1800" b="1" dirty="0">
                <a:latin typeface="Times New Roman" panose="02020603050405020304" pitchFamily="18" charset="0"/>
                <a:cs typeface="Times New Roman" panose="02020603050405020304" pitchFamily="18" charset="0"/>
              </a:rPr>
              <a:t>ROC Curve</a:t>
            </a:r>
            <a:r>
              <a:rPr lang="en-US" sz="1800" dirty="0">
                <a:latin typeface="Times New Roman" panose="02020603050405020304" pitchFamily="18" charset="0"/>
                <a:cs typeface="Times New Roman" panose="02020603050405020304" pitchFamily="18" charset="0"/>
              </a:rPr>
              <a:t> – Evaluates classification performance</a:t>
            </a:r>
          </a:p>
          <a:p>
            <a:pPr marL="342900" indent="-342900">
              <a:lnSpc>
                <a:spcPct val="150000"/>
              </a:lnSpc>
              <a:buFont typeface="+mj-lt"/>
              <a:buAutoNum type="arabicPeriod"/>
            </a:pPr>
            <a:r>
              <a:rPr lang="en-US" sz="1800" b="1" dirty="0">
                <a:latin typeface="Times New Roman" panose="02020603050405020304" pitchFamily="18" charset="0"/>
                <a:cs typeface="Times New Roman" panose="02020603050405020304" pitchFamily="18" charset="0"/>
              </a:rPr>
              <a:t>Cross Validation</a:t>
            </a:r>
            <a:r>
              <a:rPr lang="en-US" sz="1800" dirty="0">
                <a:latin typeface="Times New Roman" panose="02020603050405020304" pitchFamily="18" charset="0"/>
                <a:cs typeface="Times New Roman" panose="02020603050405020304" pitchFamily="18" charset="0"/>
              </a:rPr>
              <a:t> – Ensures model stability</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2148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64261-6103-8B88-8A4E-67C794CEF2C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Model Comparison</a:t>
            </a:r>
          </a:p>
        </p:txBody>
      </p:sp>
      <p:sp>
        <p:nvSpPr>
          <p:cNvPr id="7" name="TextBox 6">
            <a:extLst>
              <a:ext uri="{FF2B5EF4-FFF2-40B4-BE49-F238E27FC236}">
                <a16:creationId xmlns:a16="http://schemas.microsoft.com/office/drawing/2014/main" id="{19BB7EB6-197E-B188-C1FB-10F9C3750E4D}"/>
              </a:ext>
            </a:extLst>
          </p:cNvPr>
          <p:cNvSpPr txBox="1"/>
          <p:nvPr/>
        </p:nvSpPr>
        <p:spPr>
          <a:xfrm>
            <a:off x="818614" y="4861340"/>
            <a:ext cx="10694504" cy="1323439"/>
          </a:xfrm>
          <a:prstGeom prst="rect">
            <a:avLst/>
          </a:prstGeom>
          <a:noFill/>
        </p:spPr>
        <p:txBody>
          <a:bodyPr wrap="square">
            <a:spAutoFit/>
          </a:bodyPr>
          <a:lstStyle/>
          <a:p>
            <a:r>
              <a:rPr lang="en-US" sz="1600" dirty="0"/>
              <a:t>This chart compares the </a:t>
            </a:r>
            <a:r>
              <a:rPr lang="en-US" sz="1600" b="1" dirty="0"/>
              <a:t>accuracy of different machine learning models</a:t>
            </a:r>
            <a:r>
              <a:rPr lang="en-US" sz="1600" dirty="0"/>
              <a:t> used for predicting hotel booking cancellations. Among all models, </a:t>
            </a:r>
            <a:r>
              <a:rPr lang="en-US" sz="1600" b="1" dirty="0"/>
              <a:t>Gradient Boosting achieved the highest accuracy of 89%</a:t>
            </a:r>
            <a:r>
              <a:rPr lang="en-US" sz="1600" dirty="0"/>
              <a:t>, followed by Random Forest with 87%, while KNN and Decision Tree achieved 83%, and Logistic Regression showed the lowest performance at 78%.</a:t>
            </a:r>
          </a:p>
          <a:p>
            <a:r>
              <a:rPr lang="en-US" sz="1600" dirty="0"/>
              <a:t>The results indicate that ensemble methods, especially </a:t>
            </a:r>
            <a:r>
              <a:rPr lang="en-US" sz="1600" b="1" dirty="0"/>
              <a:t>Gradient Boosting</a:t>
            </a:r>
            <a:r>
              <a:rPr lang="en-US" sz="1600" dirty="0"/>
              <a:t>, perform better in capturing complex patterns in the data compared to other models.</a:t>
            </a:r>
          </a:p>
        </p:txBody>
      </p:sp>
      <p:pic>
        <p:nvPicPr>
          <p:cNvPr id="8" name="Picture 7">
            <a:extLst>
              <a:ext uri="{FF2B5EF4-FFF2-40B4-BE49-F238E27FC236}">
                <a16:creationId xmlns:a16="http://schemas.microsoft.com/office/drawing/2014/main" id="{7C789E7C-7A74-69C7-80C6-A4736645956E}"/>
              </a:ext>
            </a:extLst>
          </p:cNvPr>
          <p:cNvPicPr>
            <a:picLocks noChangeAspect="1"/>
          </p:cNvPicPr>
          <p:nvPr/>
        </p:nvPicPr>
        <p:blipFill>
          <a:blip r:embed="rId2"/>
          <a:stretch>
            <a:fillRect/>
          </a:stretch>
        </p:blipFill>
        <p:spPr>
          <a:xfrm>
            <a:off x="2683193" y="1280219"/>
            <a:ext cx="5437077" cy="3581121"/>
          </a:xfrm>
          <a:prstGeom prst="rect">
            <a:avLst/>
          </a:prstGeom>
        </p:spPr>
      </p:pic>
    </p:spTree>
    <p:extLst>
      <p:ext uri="{BB962C8B-B14F-4D97-AF65-F5344CB8AC3E}">
        <p14:creationId xmlns:p14="http://schemas.microsoft.com/office/powerpoint/2010/main" val="1097523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8F29E5-674C-C2E8-4D40-BE09668DF695}"/>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Based on model comparison results, </a:t>
            </a:r>
            <a:r>
              <a:rPr lang="en-US" sz="1800" b="1" dirty="0">
                <a:latin typeface="Times New Roman" panose="02020603050405020304" pitchFamily="18" charset="0"/>
                <a:cs typeface="Times New Roman" panose="02020603050405020304" pitchFamily="18" charset="0"/>
              </a:rPr>
              <a:t>Gradient Boosting was selected as the final model</a:t>
            </a:r>
            <a:r>
              <a:rPr lang="en-US" sz="1800" dirty="0">
                <a:latin typeface="Times New Roman" panose="02020603050405020304" pitchFamily="18" charset="0"/>
                <a:cs typeface="Times New Roman" panose="02020603050405020304" pitchFamily="18" charset="0"/>
              </a:rPr>
              <a:t>.</a:t>
            </a:r>
          </a:p>
          <a:p>
            <a:pPr marL="0" indent="0">
              <a:lnSpc>
                <a:spcPct val="150000"/>
              </a:lnSpc>
              <a:buNone/>
            </a:pPr>
            <a:r>
              <a:rPr lang="en-US" sz="1800" dirty="0">
                <a:latin typeface="Times New Roman" panose="02020603050405020304" pitchFamily="18" charset="0"/>
                <a:cs typeface="Times New Roman" panose="02020603050405020304" pitchFamily="18" charset="0"/>
              </a:rPr>
              <a:t>     Reasons for selecting Random Forest:</a:t>
            </a:r>
          </a:p>
          <a:p>
            <a:pPr>
              <a:lnSpc>
                <a:spcPct val="150000"/>
              </a:lnSpc>
            </a:pPr>
            <a:r>
              <a:rPr lang="en-US" sz="1800" dirty="0">
                <a:latin typeface="Times New Roman" panose="02020603050405020304" pitchFamily="18" charset="0"/>
                <a:cs typeface="Times New Roman" panose="02020603050405020304" pitchFamily="18" charset="0"/>
              </a:rPr>
              <a:t>Higher testing accuracy</a:t>
            </a:r>
          </a:p>
          <a:p>
            <a:pPr>
              <a:lnSpc>
                <a:spcPct val="150000"/>
              </a:lnSpc>
            </a:pPr>
            <a:r>
              <a:rPr lang="en-US" sz="1800" dirty="0">
                <a:latin typeface="Times New Roman" panose="02020603050405020304" pitchFamily="18" charset="0"/>
                <a:cs typeface="Times New Roman" panose="02020603050405020304" pitchFamily="18" charset="0"/>
              </a:rPr>
              <a:t>Better generalization on unseen data</a:t>
            </a:r>
          </a:p>
          <a:p>
            <a:pPr>
              <a:lnSpc>
                <a:spcPct val="150000"/>
              </a:lnSpc>
            </a:pPr>
            <a:r>
              <a:rPr lang="en-US" sz="1800" dirty="0">
                <a:latin typeface="Times New Roman" panose="02020603050405020304" pitchFamily="18" charset="0"/>
                <a:cs typeface="Times New Roman" panose="02020603050405020304" pitchFamily="18" charset="0"/>
              </a:rPr>
              <a:t>Reduced overfitting compared to Decision Tree</a:t>
            </a:r>
          </a:p>
          <a:p>
            <a:pPr>
              <a:lnSpc>
                <a:spcPct val="150000"/>
              </a:lnSpc>
            </a:pPr>
            <a:r>
              <a:rPr lang="en-US" sz="1800" dirty="0">
                <a:latin typeface="Times New Roman" panose="02020603050405020304" pitchFamily="18" charset="0"/>
                <a:cs typeface="Times New Roman" panose="02020603050405020304" pitchFamily="18" charset="0"/>
              </a:rPr>
              <a:t>Strong performance in classification tasks</a:t>
            </a:r>
          </a:p>
          <a:p>
            <a:pPr>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D5A5D49-6BF2-974E-AD5E-0E2E6990FCD8}"/>
              </a:ext>
            </a:extLst>
          </p:cNvPr>
          <p:cNvSpPr>
            <a:spLocks noGrp="1" noChangeArrowheads="1"/>
          </p:cNvSpPr>
          <p:nvPr>
            <p:ph type="title"/>
          </p:nvPr>
        </p:nvSpPr>
        <p:spPr bwMode="auto">
          <a:xfrm>
            <a:off x="678884" y="602277"/>
            <a:ext cx="4233851"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Model Selection</a:t>
            </a:r>
          </a:p>
        </p:txBody>
      </p:sp>
    </p:spTree>
    <p:extLst>
      <p:ext uri="{BB962C8B-B14F-4D97-AF65-F5344CB8AC3E}">
        <p14:creationId xmlns:p14="http://schemas.microsoft.com/office/powerpoint/2010/main" val="330698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7F1C9-48DD-77FF-3193-509F9FDFC1F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Model Deployment</a:t>
            </a:r>
          </a:p>
        </p:txBody>
      </p:sp>
      <p:sp>
        <p:nvSpPr>
          <p:cNvPr id="3" name="Content Placeholder 2">
            <a:extLst>
              <a:ext uri="{FF2B5EF4-FFF2-40B4-BE49-F238E27FC236}">
                <a16:creationId xmlns:a16="http://schemas.microsoft.com/office/drawing/2014/main" id="{19960BCE-EB97-1B9C-B9FA-DFC0492C9FAF}"/>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final trained model was deployed using </a:t>
            </a:r>
            <a:r>
              <a:rPr lang="en-US" sz="1800" b="1"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an interactive web application framework.</a:t>
            </a:r>
          </a:p>
          <a:p>
            <a:pPr marL="0" indent="0">
              <a:lnSpc>
                <a:spcPct val="150000"/>
              </a:lnSpc>
              <a:buNone/>
            </a:pPr>
            <a:r>
              <a:rPr lang="en-US" sz="1800" dirty="0">
                <a:latin typeface="Times New Roman" panose="02020603050405020304" pitchFamily="18" charset="0"/>
                <a:cs typeface="Times New Roman" panose="02020603050405020304" pitchFamily="18" charset="0"/>
              </a:rPr>
              <a:t>      The application allows users to:</a:t>
            </a:r>
          </a:p>
          <a:p>
            <a:pPr>
              <a:lnSpc>
                <a:spcPct val="150000"/>
              </a:lnSpc>
            </a:pPr>
            <a:r>
              <a:rPr lang="en-US" sz="1800" dirty="0">
                <a:latin typeface="Times New Roman" panose="02020603050405020304" pitchFamily="18" charset="0"/>
                <a:cs typeface="Times New Roman" panose="02020603050405020304" pitchFamily="18" charset="0"/>
              </a:rPr>
              <a:t>Enter booking information</a:t>
            </a:r>
          </a:p>
          <a:p>
            <a:pPr>
              <a:lnSpc>
                <a:spcPct val="150000"/>
              </a:lnSpc>
            </a:pPr>
            <a:r>
              <a:rPr lang="en-US" sz="1800" dirty="0">
                <a:latin typeface="Times New Roman" panose="02020603050405020304" pitchFamily="18" charset="0"/>
                <a:cs typeface="Times New Roman" panose="02020603050405020304" pitchFamily="18" charset="0"/>
              </a:rPr>
              <a:t>Predict whether the reservation will be </a:t>
            </a:r>
            <a:r>
              <a:rPr lang="en-US" sz="1800" b="1" dirty="0">
                <a:latin typeface="Times New Roman" panose="02020603050405020304" pitchFamily="18" charset="0"/>
                <a:cs typeface="Times New Roman" panose="02020603050405020304" pitchFamily="18" charset="0"/>
              </a:rPr>
              <a:t>Canceled or Not Canceled</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This deployment demonstrates the </a:t>
            </a:r>
            <a:r>
              <a:rPr lang="en-US" sz="1800" b="1" dirty="0">
                <a:latin typeface="Times New Roman" panose="02020603050405020304" pitchFamily="18" charset="0"/>
                <a:cs typeface="Times New Roman" panose="02020603050405020304" pitchFamily="18" charset="0"/>
              </a:rPr>
              <a:t>real-world applicability of the machine learning model</a:t>
            </a:r>
            <a:r>
              <a:rPr lang="en-US" sz="1800" dirty="0">
                <a:latin typeface="Times New Roman" panose="02020603050405020304" pitchFamily="18" charset="0"/>
                <a:cs typeface="Times New Roman" panose="02020603050405020304" pitchFamily="18" charset="0"/>
              </a:rPr>
              <a:t>.</a:t>
            </a: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499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C0DC92E-F883-F634-D75C-DDEEF1BBBEE3}"/>
              </a:ext>
            </a:extLst>
          </p:cNvPr>
          <p:cNvSpPr>
            <a:spLocks noGrp="1" noChangeArrowheads="1"/>
          </p:cNvSpPr>
          <p:nvPr>
            <p:ph type="title"/>
          </p:nvPr>
        </p:nvSpPr>
        <p:spPr bwMode="auto">
          <a:xfrm>
            <a:off x="678884" y="602277"/>
            <a:ext cx="4277389"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Improvements</a:t>
            </a:r>
          </a:p>
        </p:txBody>
      </p:sp>
      <p:sp>
        <p:nvSpPr>
          <p:cNvPr id="5" name="Rectangle 2">
            <a:extLst>
              <a:ext uri="{FF2B5EF4-FFF2-40B4-BE49-F238E27FC236}">
                <a16:creationId xmlns:a16="http://schemas.microsoft.com/office/drawing/2014/main" id="{38FBC259-E511-8514-5FEA-1F6ABA4DAED4}"/>
              </a:ext>
            </a:extLst>
          </p:cNvPr>
          <p:cNvSpPr>
            <a:spLocks noGrp="1" noChangeArrowheads="1"/>
          </p:cNvSpPr>
          <p:nvPr>
            <p:ph idx="1"/>
          </p:nvPr>
        </p:nvSpPr>
        <p:spPr bwMode="auto">
          <a:xfrm>
            <a:off x="947240" y="1622027"/>
            <a:ext cx="9405139" cy="2397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Although the current model performs well, several improvements can be implemented in the future:</a:t>
            </a:r>
          </a:p>
          <a:p>
            <a:pPr marR="0" lvl="0" algn="l" defTabSz="914400" rtl="0" eaLnBrk="0" fontAlgn="base" latinLnBrk="0" hangingPunct="0">
              <a:lnSpc>
                <a:spcPct val="2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larger and more diverse datasets for better generalization</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advanced machine learning models such as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Deep Learning</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real-time booking data for continuous prediction</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complete hotel management dashboard for business decision-making</a:t>
            </a:r>
          </a:p>
        </p:txBody>
      </p:sp>
    </p:spTree>
    <p:extLst>
      <p:ext uri="{BB962C8B-B14F-4D97-AF65-F5344CB8AC3E}">
        <p14:creationId xmlns:p14="http://schemas.microsoft.com/office/powerpoint/2010/main" val="3486383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E0A4-5240-6A18-8AEF-94AC5B8A2C0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C27B902-8242-C7D3-501C-342560B52B60}"/>
              </a:ext>
            </a:extLst>
          </p:cNvPr>
          <p:cNvSpPr>
            <a:spLocks noGrp="1"/>
          </p:cNvSpPr>
          <p:nvPr>
            <p:ph idx="1"/>
          </p:nvPr>
        </p:nvSpPr>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This project successfully developed a </a:t>
            </a:r>
            <a:r>
              <a:rPr lang="en-US" sz="1800" b="1" dirty="0">
                <a:latin typeface="Times New Roman" panose="02020603050405020304" pitchFamily="18" charset="0"/>
                <a:cs typeface="Times New Roman" panose="02020603050405020304" pitchFamily="18" charset="0"/>
              </a:rPr>
              <a:t>machine learning model to predict hotel reservation cancellations</a:t>
            </a:r>
            <a:r>
              <a:rPr lang="en-US" sz="1800" dirty="0">
                <a:latin typeface="Times New Roman" panose="02020603050405020304" pitchFamily="18" charset="0"/>
                <a:cs typeface="Times New Roman" panose="02020603050405020304" pitchFamily="18" charset="0"/>
              </a:rPr>
              <a:t> using historical booking data.</a:t>
            </a:r>
          </a:p>
          <a:p>
            <a:pPr>
              <a:lnSpc>
                <a:spcPct val="150000"/>
              </a:lnSpc>
            </a:pPr>
            <a:r>
              <a:rPr lang="en-US" sz="1800" dirty="0">
                <a:latin typeface="Times New Roman" panose="02020603050405020304" pitchFamily="18" charset="0"/>
                <a:cs typeface="Times New Roman" panose="02020603050405020304" pitchFamily="18" charset="0"/>
              </a:rPr>
              <a:t>Through data preprocessing, exploratory data analysis, and model training, several algorithms were evaluated to identify the best performing model.</a:t>
            </a:r>
          </a:p>
          <a:p>
            <a:pPr>
              <a:lnSpc>
                <a:spcPct val="150000"/>
              </a:lnSpc>
            </a:pPr>
            <a:r>
              <a:rPr lang="en-US" sz="1800" dirty="0">
                <a:latin typeface="Times New Roman" panose="02020603050405020304" pitchFamily="18" charset="0"/>
                <a:cs typeface="Times New Roman" panose="02020603050405020304" pitchFamily="18" charset="0"/>
              </a:rPr>
              <a:t>Among all models tested, </a:t>
            </a:r>
            <a:r>
              <a:rPr lang="en-US" sz="1800" b="1" dirty="0">
                <a:latin typeface="Times New Roman" panose="02020603050405020304" pitchFamily="18" charset="0"/>
                <a:cs typeface="Times New Roman" panose="02020603050405020304" pitchFamily="18" charset="0"/>
              </a:rPr>
              <a:t>Random Forest achieved the best performance</a:t>
            </a:r>
            <a:r>
              <a:rPr lang="en-US" sz="1800" dirty="0">
                <a:latin typeface="Times New Roman" panose="02020603050405020304" pitchFamily="18" charset="0"/>
                <a:cs typeface="Times New Roman" panose="02020603050405020304" pitchFamily="18" charset="0"/>
              </a:rPr>
              <a:t>, providing accurate predictions for booking cancellations.</a:t>
            </a:r>
          </a:p>
          <a:p>
            <a:pPr>
              <a:lnSpc>
                <a:spcPct val="150000"/>
              </a:lnSpc>
            </a:pPr>
            <a:r>
              <a:rPr lang="en-US" sz="1800" dirty="0">
                <a:latin typeface="Times New Roman" panose="02020603050405020304" pitchFamily="18" charset="0"/>
                <a:cs typeface="Times New Roman" panose="02020603050405020304" pitchFamily="18" charset="0"/>
              </a:rPr>
              <a:t>This model can help hotels </a:t>
            </a:r>
            <a:r>
              <a:rPr lang="en-US" sz="1800" b="1" dirty="0">
                <a:latin typeface="Times New Roman" panose="02020603050405020304" pitchFamily="18" charset="0"/>
                <a:cs typeface="Times New Roman" panose="02020603050405020304" pitchFamily="18" charset="0"/>
              </a:rPr>
              <a:t>reduce revenue loss, improve resource planning, and optimize room management strategies</a:t>
            </a:r>
            <a:r>
              <a:rPr lang="en-US" sz="1800" dirty="0">
                <a:latin typeface="Times New Roman" panose="02020603050405020304" pitchFamily="18" charset="0"/>
                <a:cs typeface="Times New Roman" panose="02020603050405020304" pitchFamily="18" charset="0"/>
              </a:rPr>
              <a:t>.</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836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a:xfrm>
            <a:off x="3551292" y="2206487"/>
            <a:ext cx="3883178" cy="974449"/>
          </a:xfrm>
        </p:spPr>
        <p:txBody>
          <a:bodyPr>
            <a:normAutofit fontScale="90000"/>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7421</TotalTime>
  <Words>1323</Words>
  <Application>Microsoft Office PowerPoint</Application>
  <PresentationFormat>Widescreen</PresentationFormat>
  <Paragraphs>97</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Times New Roman</vt:lpstr>
      <vt:lpstr>Wingdings</vt:lpstr>
      <vt:lpstr>BIA Template</vt:lpstr>
      <vt:lpstr>PowerPoint Presentation</vt:lpstr>
      <vt:lpstr>Agenda</vt:lpstr>
      <vt:lpstr>Problem Statement</vt:lpstr>
      <vt:lpstr>Dataset Overview</vt:lpstr>
      <vt:lpstr>Features in the Dataset</vt:lpstr>
      <vt:lpstr>Handling Missing Values</vt:lpstr>
      <vt:lpstr>Exploratory Data Analysis (EDA)</vt:lpstr>
      <vt:lpstr>Booking Status Distribution</vt:lpstr>
      <vt:lpstr>Market Segment Analysis</vt:lpstr>
      <vt:lpstr>Lead Time Analysis</vt:lpstr>
      <vt:lpstr>Price vs Booking Status</vt:lpstr>
      <vt:lpstr>Heatmap</vt:lpstr>
      <vt:lpstr>Special Requests Analysis</vt:lpstr>
      <vt:lpstr>Data Preprocessing &amp; Feature Engineering</vt:lpstr>
      <vt:lpstr>Feature Selection </vt:lpstr>
      <vt:lpstr>Model Building</vt:lpstr>
      <vt:lpstr>Model Evaluation</vt:lpstr>
      <vt:lpstr>Model Comparison</vt:lpstr>
      <vt:lpstr>Final Model Selection</vt:lpstr>
      <vt:lpstr>Model Deployment</vt:lpstr>
      <vt:lpstr>Future Improvements</vt:lpstr>
      <vt:lpstr>Conclusion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Sharath Kumar N</cp:lastModifiedBy>
  <cp:revision>2260</cp:revision>
  <dcterms:created xsi:type="dcterms:W3CDTF">2020-12-23T13:36:00Z</dcterms:created>
  <dcterms:modified xsi:type="dcterms:W3CDTF">2026-04-16T10:05:28Z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